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Karnchang Bold" charset="1" panose="00000000000000000000"/>
      <p:regular r:id="rId15"/>
    </p:embeddedFont>
    <p:embeddedFont>
      <p:font typeface="Prompt" charset="1" panose="00000500000000000000"/>
      <p:regular r:id="rId16"/>
    </p:embeddedFont>
    <p:embeddedFont>
      <p:font typeface="Montserrat Ultra-Bold" charset="1" panose="000009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sp>
        <p:nvSpPr>
          <p:cNvPr name="TextBox 2" id="2"/>
          <p:cNvSpPr txBox="true"/>
          <p:nvPr/>
        </p:nvSpPr>
        <p:spPr>
          <a:xfrm rot="0">
            <a:off x="653043" y="1995615"/>
            <a:ext cx="12456010" cy="3655342"/>
          </a:xfrm>
          <a:prstGeom prst="rect">
            <a:avLst/>
          </a:prstGeom>
        </p:spPr>
        <p:txBody>
          <a:bodyPr anchor="t" rtlCol="false" tIns="0" lIns="0" bIns="0" rIns="0">
            <a:spAutoFit/>
          </a:bodyPr>
          <a:lstStyle/>
          <a:p>
            <a:pPr algn="l">
              <a:lnSpc>
                <a:spcPts val="8320"/>
              </a:lnSpc>
            </a:pPr>
            <a:r>
              <a:rPr lang="en-US" sz="9043" b="true">
                <a:solidFill>
                  <a:srgbClr val="000000"/>
                </a:solidFill>
                <a:latin typeface="Karnchang Bold"/>
                <a:ea typeface="Karnchang Bold"/>
                <a:cs typeface="Karnchang Bold"/>
                <a:sym typeface="Karnchang Bold"/>
              </a:rPr>
              <a:t>SELF SERVICE MOBILE APPLICATION FOR THE COZY PLATE</a:t>
            </a:r>
          </a:p>
        </p:txBody>
      </p:sp>
      <p:grpSp>
        <p:nvGrpSpPr>
          <p:cNvPr name="Group 3" id="3"/>
          <p:cNvGrpSpPr/>
          <p:nvPr/>
        </p:nvGrpSpPr>
        <p:grpSpPr>
          <a:xfrm rot="0">
            <a:off x="14248514" y="-2792106"/>
            <a:ext cx="17986847" cy="17982775"/>
            <a:chOff x="0" y="0"/>
            <a:chExt cx="23982462" cy="23977033"/>
          </a:xfrm>
        </p:grpSpPr>
        <p:grpSp>
          <p:nvGrpSpPr>
            <p:cNvPr name="Group 4" id="4"/>
            <p:cNvGrpSpPr/>
            <p:nvPr/>
          </p:nvGrpSpPr>
          <p:grpSpPr>
            <a:xfrm rot="2252144">
              <a:off x="2887185" y="2861146"/>
              <a:ext cx="14259267" cy="14323066"/>
              <a:chOff x="0" y="0"/>
              <a:chExt cx="2816645" cy="2829248"/>
            </a:xfrm>
          </p:grpSpPr>
          <p:sp>
            <p:nvSpPr>
              <p:cNvPr name="Freeform 5" id="5"/>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6" id="6"/>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2252144">
              <a:off x="3845358" y="6213209"/>
              <a:ext cx="14259267" cy="14323066"/>
              <a:chOff x="0" y="0"/>
              <a:chExt cx="2816645" cy="2829248"/>
            </a:xfrm>
          </p:grpSpPr>
          <p:sp>
            <p:nvSpPr>
              <p:cNvPr name="Freeform 8" id="8"/>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9" id="9"/>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2252144">
              <a:off x="6836010" y="6792821"/>
              <a:ext cx="14259267" cy="14323066"/>
              <a:chOff x="0" y="0"/>
              <a:chExt cx="2816645" cy="2829248"/>
            </a:xfrm>
          </p:grpSpPr>
          <p:sp>
            <p:nvSpPr>
              <p:cNvPr name="Freeform 11" id="11"/>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2" id="12"/>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13" id="13"/>
          <p:cNvSpPr txBox="true"/>
          <p:nvPr/>
        </p:nvSpPr>
        <p:spPr>
          <a:xfrm rot="0">
            <a:off x="1028700" y="8388350"/>
            <a:ext cx="5544493" cy="869950"/>
          </a:xfrm>
          <a:prstGeom prst="rect">
            <a:avLst/>
          </a:prstGeom>
        </p:spPr>
        <p:txBody>
          <a:bodyPr anchor="t" rtlCol="false" tIns="0" lIns="0" bIns="0" rIns="0">
            <a:spAutoFit/>
          </a:bodyPr>
          <a:lstStyle/>
          <a:p>
            <a:pPr algn="l">
              <a:lnSpc>
                <a:spcPts val="5599"/>
              </a:lnSpc>
            </a:pPr>
            <a:r>
              <a:rPr lang="en-US" sz="3999" b="true">
                <a:solidFill>
                  <a:srgbClr val="000000"/>
                </a:solidFill>
                <a:latin typeface="Karnchang Bold"/>
                <a:ea typeface="Karnchang Bold"/>
                <a:cs typeface="Karnchang Bold"/>
                <a:sym typeface="Karnchang Bold"/>
              </a:rPr>
              <a:t>XII RPL B</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14258039" y="-2792106"/>
            <a:ext cx="17986847" cy="17982775"/>
            <a:chOff x="0" y="0"/>
            <a:chExt cx="23982462" cy="23977033"/>
          </a:xfrm>
        </p:grpSpPr>
        <p:grpSp>
          <p:nvGrpSpPr>
            <p:cNvPr name="Group 3" id="3"/>
            <p:cNvGrpSpPr/>
            <p:nvPr/>
          </p:nvGrpSpPr>
          <p:grpSpPr>
            <a:xfrm rot="2252144">
              <a:off x="2887185" y="2861146"/>
              <a:ext cx="14259267" cy="14323066"/>
              <a:chOff x="0" y="0"/>
              <a:chExt cx="2816645" cy="2829248"/>
            </a:xfrm>
          </p:grpSpPr>
          <p:sp>
            <p:nvSpPr>
              <p:cNvPr name="Freeform 4" id="4"/>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5" id="5"/>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252144">
              <a:off x="3845358" y="6213209"/>
              <a:ext cx="14259267" cy="14323066"/>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6836010" y="6792821"/>
              <a:ext cx="14259267" cy="14323066"/>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1481718" y="946150"/>
            <a:ext cx="5544493" cy="869950"/>
          </a:xfrm>
          <a:prstGeom prst="rect">
            <a:avLst/>
          </a:prstGeom>
        </p:spPr>
        <p:txBody>
          <a:bodyPr anchor="t" rtlCol="false" tIns="0" lIns="0" bIns="0" rIns="0">
            <a:spAutoFit/>
          </a:bodyPr>
          <a:lstStyle/>
          <a:p>
            <a:pPr algn="l">
              <a:lnSpc>
                <a:spcPts val="5599"/>
              </a:lnSpc>
            </a:pPr>
            <a:r>
              <a:rPr lang="en-US" sz="3999" b="true">
                <a:solidFill>
                  <a:srgbClr val="000000"/>
                </a:solidFill>
                <a:latin typeface="Karnchang Bold"/>
                <a:ea typeface="Karnchang Bold"/>
                <a:cs typeface="Karnchang Bold"/>
                <a:sym typeface="Karnchang Bold"/>
              </a:rPr>
              <a:t>ANGGOTA KELOMPOK:</a:t>
            </a:r>
          </a:p>
        </p:txBody>
      </p:sp>
      <p:sp>
        <p:nvSpPr>
          <p:cNvPr name="TextBox 13" id="13"/>
          <p:cNvSpPr txBox="true"/>
          <p:nvPr/>
        </p:nvSpPr>
        <p:spPr>
          <a:xfrm rot="0">
            <a:off x="1107012" y="2047569"/>
            <a:ext cx="13141502" cy="7210731"/>
          </a:xfrm>
          <a:prstGeom prst="rect">
            <a:avLst/>
          </a:prstGeom>
        </p:spPr>
        <p:txBody>
          <a:bodyPr anchor="t" rtlCol="false" tIns="0" lIns="0" bIns="0" rIns="0">
            <a:spAutoFit/>
          </a:bodyPr>
          <a:lstStyle/>
          <a:p>
            <a:pPr algn="just" marL="807024" indent="-403512" lvl="1">
              <a:lnSpc>
                <a:spcPts val="5233"/>
              </a:lnSpc>
              <a:buAutoNum type="arabicPeriod" startAt="1"/>
            </a:pPr>
            <a:r>
              <a:rPr lang="en-US" sz="3737">
                <a:solidFill>
                  <a:srgbClr val="000000"/>
                </a:solidFill>
                <a:latin typeface="Prompt"/>
                <a:ea typeface="Prompt"/>
                <a:cs typeface="Prompt"/>
                <a:sym typeface="Prompt"/>
              </a:rPr>
              <a:t>Naufal Faisal Mubarok/</a:t>
            </a:r>
          </a:p>
          <a:p>
            <a:pPr algn="just" marL="807024" indent="-403512" lvl="1">
              <a:lnSpc>
                <a:spcPts val="5233"/>
              </a:lnSpc>
              <a:buAutoNum type="arabicPeriod" startAt="1"/>
            </a:pPr>
            <a:r>
              <a:rPr lang="en-US" sz="3737">
                <a:solidFill>
                  <a:srgbClr val="000000"/>
                </a:solidFill>
                <a:latin typeface="Prompt"/>
                <a:ea typeface="Prompt"/>
                <a:cs typeface="Prompt"/>
                <a:sym typeface="Prompt"/>
              </a:rPr>
              <a:t>Ade Tirta/ </a:t>
            </a:r>
          </a:p>
          <a:p>
            <a:pPr algn="just" marL="807024" indent="-403512" lvl="1">
              <a:lnSpc>
                <a:spcPts val="5233"/>
              </a:lnSpc>
              <a:buAutoNum type="arabicPeriod" startAt="1"/>
            </a:pPr>
            <a:r>
              <a:rPr lang="en-US" sz="3737">
                <a:solidFill>
                  <a:srgbClr val="000000"/>
                </a:solidFill>
                <a:latin typeface="Prompt"/>
                <a:ea typeface="Prompt"/>
                <a:cs typeface="Prompt"/>
                <a:sym typeface="Prompt"/>
              </a:rPr>
              <a:t>Hadza Mirza/</a:t>
            </a:r>
          </a:p>
          <a:p>
            <a:pPr algn="just" marL="807024" indent="-403512" lvl="1">
              <a:lnSpc>
                <a:spcPts val="5233"/>
              </a:lnSpc>
              <a:buAutoNum type="arabicPeriod" startAt="1"/>
            </a:pPr>
            <a:r>
              <a:rPr lang="en-US" sz="3737">
                <a:solidFill>
                  <a:srgbClr val="000000"/>
                </a:solidFill>
                <a:latin typeface="Prompt"/>
                <a:ea typeface="Prompt"/>
                <a:cs typeface="Prompt"/>
                <a:sym typeface="Prompt"/>
              </a:rPr>
              <a:t>Muhammad Rasya/</a:t>
            </a:r>
          </a:p>
          <a:p>
            <a:pPr algn="just" marL="807024" indent="-403512" lvl="1">
              <a:lnSpc>
                <a:spcPts val="5233"/>
              </a:lnSpc>
              <a:buAutoNum type="arabicPeriod" startAt="1"/>
            </a:pPr>
            <a:r>
              <a:rPr lang="en-US" sz="3737">
                <a:solidFill>
                  <a:srgbClr val="000000"/>
                </a:solidFill>
                <a:latin typeface="Prompt"/>
                <a:ea typeface="Prompt"/>
                <a:cs typeface="Prompt"/>
                <a:sym typeface="Prompt"/>
              </a:rPr>
              <a:t>Muhammad Rafansyah/</a:t>
            </a:r>
          </a:p>
          <a:p>
            <a:pPr algn="just" marL="807024" indent="-403512" lvl="1">
              <a:lnSpc>
                <a:spcPts val="5233"/>
              </a:lnSpc>
              <a:buAutoNum type="arabicPeriod" startAt="1"/>
            </a:pPr>
            <a:r>
              <a:rPr lang="en-US" sz="3737">
                <a:solidFill>
                  <a:srgbClr val="000000"/>
                </a:solidFill>
                <a:latin typeface="Prompt"/>
                <a:ea typeface="Prompt"/>
                <a:cs typeface="Prompt"/>
                <a:sym typeface="Prompt"/>
              </a:rPr>
              <a:t>Rizki Saputra/</a:t>
            </a:r>
          </a:p>
          <a:p>
            <a:pPr algn="just" marL="807024" indent="-403512" lvl="1">
              <a:lnSpc>
                <a:spcPts val="5233"/>
              </a:lnSpc>
              <a:buAutoNum type="arabicPeriod" startAt="1"/>
            </a:pPr>
            <a:r>
              <a:rPr lang="en-US" sz="3737">
                <a:solidFill>
                  <a:srgbClr val="000000"/>
                </a:solidFill>
                <a:latin typeface="Prompt"/>
                <a:ea typeface="Prompt"/>
                <a:cs typeface="Prompt"/>
                <a:sym typeface="Prompt"/>
              </a:rPr>
              <a:t>Ario Danuarta/</a:t>
            </a:r>
          </a:p>
          <a:p>
            <a:pPr algn="just" marL="807024" indent="-403512" lvl="1">
              <a:lnSpc>
                <a:spcPts val="5233"/>
              </a:lnSpc>
              <a:buAutoNum type="arabicPeriod" startAt="1"/>
            </a:pPr>
            <a:r>
              <a:rPr lang="en-US" sz="3737">
                <a:solidFill>
                  <a:srgbClr val="000000"/>
                </a:solidFill>
                <a:latin typeface="Prompt"/>
                <a:ea typeface="Prompt"/>
                <a:cs typeface="Prompt"/>
                <a:sym typeface="Prompt"/>
              </a:rPr>
              <a:t>Rezky Aditia/</a:t>
            </a:r>
          </a:p>
          <a:p>
            <a:pPr algn="just" marL="807024" indent="-403512" lvl="1">
              <a:lnSpc>
                <a:spcPts val="5233"/>
              </a:lnSpc>
              <a:buAutoNum type="arabicPeriod" startAt="1"/>
            </a:pPr>
            <a:r>
              <a:rPr lang="en-US" sz="3737">
                <a:solidFill>
                  <a:srgbClr val="000000"/>
                </a:solidFill>
                <a:latin typeface="Prompt"/>
                <a:ea typeface="Prompt"/>
                <a:cs typeface="Prompt"/>
                <a:sym typeface="Prompt"/>
              </a:rPr>
              <a:t>Muhammad Alhabsyi/</a:t>
            </a:r>
          </a:p>
          <a:p>
            <a:pPr algn="just" marL="807024" indent="-403512" lvl="1">
              <a:lnSpc>
                <a:spcPts val="5233"/>
              </a:lnSpc>
              <a:buAutoNum type="arabicPeriod" startAt="1"/>
            </a:pPr>
            <a:r>
              <a:rPr lang="en-US" sz="3737">
                <a:solidFill>
                  <a:srgbClr val="000000"/>
                </a:solidFill>
                <a:latin typeface="Prompt"/>
                <a:ea typeface="Prompt"/>
                <a:cs typeface="Prompt"/>
                <a:sym typeface="Prompt"/>
              </a:rPr>
              <a:t>Renata Rizky/ </a:t>
            </a:r>
          </a:p>
          <a:p>
            <a:pPr algn="just" marL="807024" indent="-403512" lvl="1">
              <a:lnSpc>
                <a:spcPts val="5233"/>
              </a:lnSpc>
              <a:buAutoNum type="arabicPeriod" startAt="1"/>
            </a:pPr>
            <a:r>
              <a:rPr lang="en-US" sz="3737">
                <a:solidFill>
                  <a:srgbClr val="000000"/>
                </a:solidFill>
                <a:latin typeface="Prompt"/>
                <a:ea typeface="Prompt"/>
                <a:cs typeface="Prompt"/>
                <a:sym typeface="Prompt"/>
              </a:rPr>
              <a:t>Caylah Jasmine/06</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626487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4293776" y="857250"/>
            <a:ext cx="9700448"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PENGERTIAN</a:t>
            </a:r>
          </a:p>
        </p:txBody>
      </p:sp>
      <p:sp>
        <p:nvSpPr>
          <p:cNvPr name="TextBox 26" id="26"/>
          <p:cNvSpPr txBox="true"/>
          <p:nvPr/>
        </p:nvSpPr>
        <p:spPr>
          <a:xfrm rot="0">
            <a:off x="1886211" y="2206931"/>
            <a:ext cx="14686051" cy="6468416"/>
          </a:xfrm>
          <a:prstGeom prst="rect">
            <a:avLst/>
          </a:prstGeom>
        </p:spPr>
        <p:txBody>
          <a:bodyPr anchor="t" rtlCol="false" tIns="0" lIns="0" bIns="0" rIns="0">
            <a:spAutoFit/>
          </a:bodyPr>
          <a:lstStyle/>
          <a:p>
            <a:pPr algn="just">
              <a:lnSpc>
                <a:spcPts val="4673"/>
              </a:lnSpc>
            </a:pPr>
            <a:r>
              <a:rPr lang="en-US" sz="3337">
                <a:solidFill>
                  <a:srgbClr val="000000"/>
                </a:solidFill>
                <a:latin typeface="Prompt"/>
                <a:ea typeface="Prompt"/>
                <a:cs typeface="Prompt"/>
                <a:sym typeface="Prompt"/>
              </a:rPr>
              <a:t>Self Service Mobile Application for The Cozy Plate adalah sebuah aplikasi berbasis mobile yang dirancang untuk memberikan layanan mandiri kepada pelanggan The Cozy Plate. Aplikasi ini memungkinkan pelanggan untuk mengakses menu, melakukan pemesanan, melakukan pembayaran, memantau status pesanan, serta memberikan umpan balik secara langsung melalui perangkat mobile tanpa harus bergantung pada bantuan staf. Dengan adanya aplikasi ini, proses pelayanan menjadi lebih cepat, praktis, dan efisien, sekaligus membantu pihak The Cozy Plate dalam meningkatkan efektivitas operasional, mengurangi kesalahan pencatatan, dan meningkatkan kualitas pelayanan serta kepuasan pelanggan secara keseluruhan.</a:t>
            </a:r>
          </a:p>
        </p:txBody>
      </p:sp>
      <p:grpSp>
        <p:nvGrpSpPr>
          <p:cNvPr name="Group 27" id="27"/>
          <p:cNvGrpSpPr/>
          <p:nvPr/>
        </p:nvGrpSpPr>
        <p:grpSpPr>
          <a:xfrm rot="0">
            <a:off x="15665503" y="317552"/>
            <a:ext cx="2042119" cy="650325"/>
            <a:chOff x="0" y="0"/>
            <a:chExt cx="537842" cy="171279"/>
          </a:xfrm>
        </p:grpSpPr>
        <p:sp>
          <p:nvSpPr>
            <p:cNvPr name="Freeform 28" id="28"/>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9" id="29"/>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15782039" y="-2792106"/>
            <a:ext cx="17986847" cy="17982775"/>
            <a:chOff x="0" y="0"/>
            <a:chExt cx="23982462" cy="23977033"/>
          </a:xfrm>
        </p:grpSpPr>
        <p:grpSp>
          <p:nvGrpSpPr>
            <p:cNvPr name="Group 3" id="3"/>
            <p:cNvGrpSpPr/>
            <p:nvPr/>
          </p:nvGrpSpPr>
          <p:grpSpPr>
            <a:xfrm rot="2252144">
              <a:off x="2887185" y="2861146"/>
              <a:ext cx="14259267" cy="14323066"/>
              <a:chOff x="0" y="0"/>
              <a:chExt cx="2816645" cy="2829248"/>
            </a:xfrm>
          </p:grpSpPr>
          <p:sp>
            <p:nvSpPr>
              <p:cNvPr name="Freeform 4" id="4"/>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5" id="5"/>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252144">
              <a:off x="3845358" y="6213209"/>
              <a:ext cx="14259267" cy="14323066"/>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6836010" y="6792821"/>
              <a:ext cx="14259267" cy="14323066"/>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12" id="12"/>
          <p:cNvSpPr txBox="true"/>
          <p:nvPr/>
        </p:nvSpPr>
        <p:spPr>
          <a:xfrm rot="0">
            <a:off x="6145244" y="170520"/>
            <a:ext cx="5997511" cy="963884"/>
          </a:xfrm>
          <a:prstGeom prst="rect">
            <a:avLst/>
          </a:prstGeom>
        </p:spPr>
        <p:txBody>
          <a:bodyPr anchor="t" rtlCol="false" tIns="0" lIns="0" bIns="0" rIns="0">
            <a:spAutoFit/>
          </a:bodyPr>
          <a:lstStyle/>
          <a:p>
            <a:pPr algn="l">
              <a:lnSpc>
                <a:spcPts val="6197"/>
              </a:lnSpc>
            </a:pPr>
            <a:r>
              <a:rPr lang="en-US" sz="4426" b="true">
                <a:solidFill>
                  <a:srgbClr val="000000"/>
                </a:solidFill>
                <a:latin typeface="Karnchang Bold"/>
                <a:ea typeface="Karnchang Bold"/>
                <a:cs typeface="Karnchang Bold"/>
                <a:sym typeface="Karnchang Bold"/>
              </a:rPr>
              <a:t>LATAR BELAKANG </a:t>
            </a:r>
          </a:p>
        </p:txBody>
      </p:sp>
      <p:sp>
        <p:nvSpPr>
          <p:cNvPr name="TextBox 13" id="13"/>
          <p:cNvSpPr txBox="true"/>
          <p:nvPr/>
        </p:nvSpPr>
        <p:spPr>
          <a:xfrm rot="0">
            <a:off x="247619" y="1600549"/>
            <a:ext cx="15467745" cy="7781576"/>
          </a:xfrm>
          <a:prstGeom prst="rect">
            <a:avLst/>
          </a:prstGeom>
        </p:spPr>
        <p:txBody>
          <a:bodyPr anchor="t" rtlCol="false" tIns="0" lIns="0" bIns="0" rIns="0">
            <a:spAutoFit/>
          </a:bodyPr>
          <a:lstStyle/>
          <a:p>
            <a:pPr algn="just">
              <a:lnSpc>
                <a:spcPts val="4744"/>
              </a:lnSpc>
            </a:pPr>
            <a:r>
              <a:rPr lang="en-US" sz="3388">
                <a:solidFill>
                  <a:srgbClr val="000000"/>
                </a:solidFill>
                <a:latin typeface="Prompt"/>
                <a:ea typeface="Prompt"/>
                <a:cs typeface="Prompt"/>
                <a:sym typeface="Prompt"/>
              </a:rPr>
              <a:t>Perkembangan teknologi mobile telah membawa perubahan signifikan dalam sistem pelayanan di industri kuliner. Pelanggan saat ini mengharapkan proses pemesanan yang cepat, praktis, dan nyaman tanpa harus menunggu lama. Namun, sistem pemesanan manual masih sering menimbulkan antrian, kesalahan pencatatan pesanan, serta kurang efisien dalam pengelolaan data. </a:t>
            </a:r>
          </a:p>
          <a:p>
            <a:pPr algn="just">
              <a:lnSpc>
                <a:spcPts val="4744"/>
              </a:lnSpc>
            </a:pPr>
          </a:p>
          <a:p>
            <a:pPr algn="just">
              <a:lnSpc>
                <a:spcPts val="4744"/>
              </a:lnSpc>
            </a:pPr>
            <a:r>
              <a:rPr lang="en-US" sz="3388">
                <a:solidFill>
                  <a:srgbClr val="000000"/>
                </a:solidFill>
                <a:latin typeface="Prompt"/>
                <a:ea typeface="Prompt"/>
                <a:cs typeface="Prompt"/>
                <a:sym typeface="Prompt"/>
              </a:rPr>
              <a:t>Oleh karena itu, The Cozy Plate membutuhkan solusi berbasis teknologi berupa Self Service Mobile Application yang memungkinkan pelanggan melakukan pemesanan secara mandiri melalui perangkat seluler. Aplikasi ini diharapkan dapat meningkatkan efisiensi pelayanan, mengurangi kesalahan pemesanan, serta meningkatkan kenyamanan dan kepuasan pelanggan.</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634107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4293776" y="815478"/>
            <a:ext cx="9700448" cy="1006349"/>
          </a:xfrm>
          <a:prstGeom prst="rect">
            <a:avLst/>
          </a:prstGeom>
        </p:spPr>
        <p:txBody>
          <a:bodyPr anchor="t" rtlCol="false" tIns="0" lIns="0" bIns="0" rIns="0">
            <a:spAutoFit/>
          </a:bodyPr>
          <a:lstStyle/>
          <a:p>
            <a:pPr algn="ctr">
              <a:lnSpc>
                <a:spcPts val="5336"/>
              </a:lnSpc>
            </a:pPr>
            <a:r>
              <a:rPr lang="en-US" sz="5800" b="true">
                <a:solidFill>
                  <a:srgbClr val="243342"/>
                </a:solidFill>
                <a:latin typeface="Karnchang Bold"/>
                <a:ea typeface="Karnchang Bold"/>
                <a:cs typeface="Karnchang Bold"/>
                <a:sym typeface="Karnchang Bold"/>
              </a:rPr>
              <a:t>TUJUAN DAN MANFAAT</a:t>
            </a:r>
          </a:p>
        </p:txBody>
      </p:sp>
      <p:sp>
        <p:nvSpPr>
          <p:cNvPr name="TextBox 26" id="26"/>
          <p:cNvSpPr txBox="true"/>
          <p:nvPr/>
        </p:nvSpPr>
        <p:spPr>
          <a:xfrm rot="0">
            <a:off x="1789281" y="2054743"/>
            <a:ext cx="14897282" cy="6270823"/>
          </a:xfrm>
          <a:prstGeom prst="rect">
            <a:avLst/>
          </a:prstGeom>
        </p:spPr>
        <p:txBody>
          <a:bodyPr anchor="t" rtlCol="false" tIns="0" lIns="0" bIns="0" rIns="0">
            <a:spAutoFit/>
          </a:bodyPr>
          <a:lstStyle/>
          <a:p>
            <a:pPr algn="just">
              <a:lnSpc>
                <a:spcPts val="4539"/>
              </a:lnSpc>
            </a:pPr>
            <a:r>
              <a:rPr lang="en-US" sz="3242">
                <a:solidFill>
                  <a:srgbClr val="000000"/>
                </a:solidFill>
                <a:latin typeface="Prompt"/>
                <a:ea typeface="Prompt"/>
                <a:cs typeface="Prompt"/>
                <a:sym typeface="Prompt"/>
              </a:rPr>
              <a:t>Pembuatan Self Service Mobile Application for The Cozy Plate bertujuan untuk mempermudah pelanggan dalam melakukan pemesanan makanan dan minuman secara mandiri melalui perangkat seluler, sehingga dapat mengurangi antrian dan mempercepat proses pelayanan. Selain itu, aplikasi ini membantu meminimalkan kesalahan pencatatan pesanan serta meningkatkan efisiensi pengelolaan data pesanan dan transaksi. </a:t>
            </a:r>
          </a:p>
          <a:p>
            <a:pPr algn="just">
              <a:lnSpc>
                <a:spcPts val="4539"/>
              </a:lnSpc>
            </a:pPr>
          </a:p>
          <a:p>
            <a:pPr algn="just">
              <a:lnSpc>
                <a:spcPts val="4539"/>
              </a:lnSpc>
            </a:pPr>
            <a:r>
              <a:rPr lang="en-US" sz="3242">
                <a:solidFill>
                  <a:srgbClr val="000000"/>
                </a:solidFill>
                <a:latin typeface="Prompt"/>
                <a:ea typeface="Prompt"/>
                <a:cs typeface="Prompt"/>
                <a:sym typeface="Prompt"/>
              </a:rPr>
              <a:t>Manfaat yang diperoleh antara lain peningkatan kenyamanan dan kepuasan pelanggan, serta membantu pihak pengelola dan pengembang dalam meningkatkan kualitas pelayanan, efisiensi operasional, dan pemanfaatan teknologi digital dalam pengembangan bisnis kuliner.</a:t>
            </a:r>
          </a:p>
        </p:txBody>
      </p:sp>
      <p:grpSp>
        <p:nvGrpSpPr>
          <p:cNvPr name="Group 27" id="27"/>
          <p:cNvGrpSpPr/>
          <p:nvPr/>
        </p:nvGrpSpPr>
        <p:grpSpPr>
          <a:xfrm rot="0">
            <a:off x="15665503" y="317552"/>
            <a:ext cx="2042119" cy="650325"/>
            <a:chOff x="0" y="0"/>
            <a:chExt cx="537842" cy="171279"/>
          </a:xfrm>
        </p:grpSpPr>
        <p:sp>
          <p:nvSpPr>
            <p:cNvPr name="Freeform 28" id="28"/>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9" id="29"/>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30" id="30"/>
          <p:cNvGrpSpPr/>
          <p:nvPr/>
        </p:nvGrpSpPr>
        <p:grpSpPr>
          <a:xfrm rot="0">
            <a:off x="629723" y="9258300"/>
            <a:ext cx="6961669" cy="627749"/>
            <a:chOff x="0" y="0"/>
            <a:chExt cx="1833526" cy="165333"/>
          </a:xfrm>
        </p:grpSpPr>
        <p:sp>
          <p:nvSpPr>
            <p:cNvPr name="Freeform 31" id="31"/>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2" id="32"/>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6551273" y="1117355"/>
            <a:ext cx="5928405" cy="1363116"/>
          </a:xfrm>
          <a:prstGeom prst="rect">
            <a:avLst/>
          </a:prstGeom>
        </p:spPr>
        <p:txBody>
          <a:bodyPr anchor="t" rtlCol="false" tIns="0" lIns="0" bIns="0" rIns="0">
            <a:spAutoFit/>
          </a:bodyPr>
          <a:lstStyle/>
          <a:p>
            <a:pPr algn="ctr">
              <a:lnSpc>
                <a:spcPts val="4334"/>
              </a:lnSpc>
            </a:pPr>
            <a:r>
              <a:rPr lang="en-US" sz="4711" b="true">
                <a:solidFill>
                  <a:srgbClr val="243342"/>
                </a:solidFill>
                <a:latin typeface="Karnchang Bold"/>
                <a:ea typeface="Karnchang Bold"/>
                <a:cs typeface="Karnchang Bold"/>
                <a:sym typeface="Karnchang Bold"/>
              </a:rPr>
              <a:t>IMPLEMENTASI PROJEK</a:t>
            </a:r>
          </a:p>
        </p:txBody>
      </p:sp>
      <p:grpSp>
        <p:nvGrpSpPr>
          <p:cNvPr name="Group 26" id="26"/>
          <p:cNvGrpSpPr/>
          <p:nvPr/>
        </p:nvGrpSpPr>
        <p:grpSpPr>
          <a:xfrm rot="0">
            <a:off x="15665503" y="317552"/>
            <a:ext cx="2042119" cy="650325"/>
            <a:chOff x="0" y="0"/>
            <a:chExt cx="537842" cy="171279"/>
          </a:xfrm>
        </p:grpSpPr>
        <p:sp>
          <p:nvSpPr>
            <p:cNvPr name="Freeform 27" id="27"/>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8" id="28"/>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29" id="29"/>
          <p:cNvGrpSpPr/>
          <p:nvPr/>
        </p:nvGrpSpPr>
        <p:grpSpPr>
          <a:xfrm rot="0">
            <a:off x="629723" y="9258300"/>
            <a:ext cx="6961669" cy="627749"/>
            <a:chOff x="0" y="0"/>
            <a:chExt cx="1833526" cy="165333"/>
          </a:xfrm>
        </p:grpSpPr>
        <p:sp>
          <p:nvSpPr>
            <p:cNvPr name="Freeform 30" id="30"/>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1" id="31"/>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629723" y="230862"/>
            <a:ext cx="17436283" cy="9187808"/>
            <a:chOff x="0" y="0"/>
            <a:chExt cx="4592272" cy="2419834"/>
          </a:xfrm>
        </p:grpSpPr>
        <p:sp>
          <p:nvSpPr>
            <p:cNvPr name="Freeform 3" id="3"/>
            <p:cNvSpPr/>
            <p:nvPr/>
          </p:nvSpPr>
          <p:spPr>
            <a:xfrm flipH="false" flipV="false" rot="0">
              <a:off x="0" y="0"/>
              <a:ext cx="4592272" cy="2419834"/>
            </a:xfrm>
            <a:custGeom>
              <a:avLst/>
              <a:gdLst/>
              <a:ahLst/>
              <a:cxnLst/>
              <a:rect r="r" b="b" t="t" l="l"/>
              <a:pathLst>
                <a:path h="2419834" w="4592272">
                  <a:moveTo>
                    <a:pt x="22645" y="0"/>
                  </a:moveTo>
                  <a:lnTo>
                    <a:pt x="4569627" y="0"/>
                  </a:lnTo>
                  <a:cubicBezTo>
                    <a:pt x="4582134" y="0"/>
                    <a:pt x="4592272" y="10138"/>
                    <a:pt x="4592272" y="22645"/>
                  </a:cubicBezTo>
                  <a:lnTo>
                    <a:pt x="4592272" y="2397190"/>
                  </a:lnTo>
                  <a:cubicBezTo>
                    <a:pt x="4592272" y="2409696"/>
                    <a:pt x="4582134" y="2419834"/>
                    <a:pt x="4569627" y="2419834"/>
                  </a:cubicBezTo>
                  <a:lnTo>
                    <a:pt x="22645" y="2419834"/>
                  </a:lnTo>
                  <a:cubicBezTo>
                    <a:pt x="10138" y="2419834"/>
                    <a:pt x="0" y="2409696"/>
                    <a:pt x="0" y="2397190"/>
                  </a:cubicBezTo>
                  <a:lnTo>
                    <a:pt x="0" y="22645"/>
                  </a:lnTo>
                  <a:cubicBezTo>
                    <a:pt x="0" y="10138"/>
                    <a:pt x="10138" y="0"/>
                    <a:pt x="22645"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592272" cy="2457934"/>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6200689" y="6730254"/>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6561405" y="1345955"/>
            <a:ext cx="5928405" cy="1363116"/>
          </a:xfrm>
          <a:prstGeom prst="rect">
            <a:avLst/>
          </a:prstGeom>
        </p:spPr>
        <p:txBody>
          <a:bodyPr anchor="t" rtlCol="false" tIns="0" lIns="0" bIns="0" rIns="0">
            <a:spAutoFit/>
          </a:bodyPr>
          <a:lstStyle/>
          <a:p>
            <a:pPr algn="ctr">
              <a:lnSpc>
                <a:spcPts val="4334"/>
              </a:lnSpc>
            </a:pPr>
            <a:r>
              <a:rPr lang="en-US" sz="4711" b="true">
                <a:solidFill>
                  <a:srgbClr val="243342"/>
                </a:solidFill>
                <a:latin typeface="Karnchang Bold"/>
                <a:ea typeface="Karnchang Bold"/>
                <a:cs typeface="Karnchang Bold"/>
                <a:sym typeface="Karnchang Bold"/>
              </a:rPr>
              <a:t>IMPLEMENTASI </a:t>
            </a:r>
          </a:p>
          <a:p>
            <a:pPr algn="ctr">
              <a:lnSpc>
                <a:spcPts val="4334"/>
              </a:lnSpc>
            </a:pPr>
            <a:r>
              <a:rPr lang="en-US" sz="4711" b="true">
                <a:solidFill>
                  <a:srgbClr val="243342"/>
                </a:solidFill>
                <a:latin typeface="Karnchang Bold"/>
                <a:ea typeface="Karnchang Bold"/>
                <a:cs typeface="Karnchang Bold"/>
                <a:sym typeface="Karnchang Bold"/>
              </a:rPr>
              <a:t>PROJEK</a:t>
            </a:r>
          </a:p>
        </p:txBody>
      </p:sp>
      <p:grpSp>
        <p:nvGrpSpPr>
          <p:cNvPr name="Group 26" id="26"/>
          <p:cNvGrpSpPr/>
          <p:nvPr/>
        </p:nvGrpSpPr>
        <p:grpSpPr>
          <a:xfrm rot="0">
            <a:off x="15665503" y="317552"/>
            <a:ext cx="2042119" cy="650325"/>
            <a:chOff x="0" y="0"/>
            <a:chExt cx="537842" cy="171279"/>
          </a:xfrm>
        </p:grpSpPr>
        <p:sp>
          <p:nvSpPr>
            <p:cNvPr name="Freeform 27" id="27"/>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8" id="28"/>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29" id="29"/>
          <p:cNvGrpSpPr/>
          <p:nvPr/>
        </p:nvGrpSpPr>
        <p:grpSpPr>
          <a:xfrm rot="0">
            <a:off x="629723" y="9258300"/>
            <a:ext cx="6961669" cy="627749"/>
            <a:chOff x="0" y="0"/>
            <a:chExt cx="1833526" cy="165333"/>
          </a:xfrm>
        </p:grpSpPr>
        <p:sp>
          <p:nvSpPr>
            <p:cNvPr name="Freeform 30" id="30"/>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1" id="31"/>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629723" y="230862"/>
            <a:ext cx="17436283" cy="9187808"/>
            <a:chOff x="0" y="0"/>
            <a:chExt cx="4592272" cy="2419834"/>
          </a:xfrm>
        </p:grpSpPr>
        <p:sp>
          <p:nvSpPr>
            <p:cNvPr name="Freeform 3" id="3"/>
            <p:cNvSpPr/>
            <p:nvPr/>
          </p:nvSpPr>
          <p:spPr>
            <a:xfrm flipH="false" flipV="false" rot="0">
              <a:off x="0" y="0"/>
              <a:ext cx="4592272" cy="2419834"/>
            </a:xfrm>
            <a:custGeom>
              <a:avLst/>
              <a:gdLst/>
              <a:ahLst/>
              <a:cxnLst/>
              <a:rect r="r" b="b" t="t" l="l"/>
              <a:pathLst>
                <a:path h="2419834" w="4592272">
                  <a:moveTo>
                    <a:pt x="22645" y="0"/>
                  </a:moveTo>
                  <a:lnTo>
                    <a:pt x="4569627" y="0"/>
                  </a:lnTo>
                  <a:cubicBezTo>
                    <a:pt x="4582134" y="0"/>
                    <a:pt x="4592272" y="10138"/>
                    <a:pt x="4592272" y="22645"/>
                  </a:cubicBezTo>
                  <a:lnTo>
                    <a:pt x="4592272" y="2397190"/>
                  </a:lnTo>
                  <a:cubicBezTo>
                    <a:pt x="4592272" y="2409696"/>
                    <a:pt x="4582134" y="2419834"/>
                    <a:pt x="4569627" y="2419834"/>
                  </a:cubicBezTo>
                  <a:lnTo>
                    <a:pt x="22645" y="2419834"/>
                  </a:lnTo>
                  <a:cubicBezTo>
                    <a:pt x="10138" y="2419834"/>
                    <a:pt x="0" y="2409696"/>
                    <a:pt x="0" y="2397190"/>
                  </a:cubicBezTo>
                  <a:lnTo>
                    <a:pt x="0" y="22645"/>
                  </a:lnTo>
                  <a:cubicBezTo>
                    <a:pt x="0" y="10138"/>
                    <a:pt x="10138" y="0"/>
                    <a:pt x="22645"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592272" cy="2457934"/>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6200689" y="6730254"/>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6561405" y="1345955"/>
            <a:ext cx="5928405" cy="1363116"/>
          </a:xfrm>
          <a:prstGeom prst="rect">
            <a:avLst/>
          </a:prstGeom>
        </p:spPr>
        <p:txBody>
          <a:bodyPr anchor="t" rtlCol="false" tIns="0" lIns="0" bIns="0" rIns="0">
            <a:spAutoFit/>
          </a:bodyPr>
          <a:lstStyle/>
          <a:p>
            <a:pPr algn="ctr">
              <a:lnSpc>
                <a:spcPts val="4334"/>
              </a:lnSpc>
            </a:pPr>
            <a:r>
              <a:rPr lang="en-US" sz="4711" b="true">
                <a:solidFill>
                  <a:srgbClr val="243342"/>
                </a:solidFill>
                <a:latin typeface="Karnchang Bold"/>
                <a:ea typeface="Karnchang Bold"/>
                <a:cs typeface="Karnchang Bold"/>
                <a:sym typeface="Karnchang Bold"/>
              </a:rPr>
              <a:t>IMPLEMENTASI </a:t>
            </a:r>
          </a:p>
          <a:p>
            <a:pPr algn="ctr">
              <a:lnSpc>
                <a:spcPts val="4334"/>
              </a:lnSpc>
            </a:pPr>
            <a:r>
              <a:rPr lang="en-US" sz="4711" b="true">
                <a:solidFill>
                  <a:srgbClr val="243342"/>
                </a:solidFill>
                <a:latin typeface="Karnchang Bold"/>
                <a:ea typeface="Karnchang Bold"/>
                <a:cs typeface="Karnchang Bold"/>
                <a:sym typeface="Karnchang Bold"/>
              </a:rPr>
              <a:t>PROJEK</a:t>
            </a:r>
          </a:p>
        </p:txBody>
      </p:sp>
      <p:grpSp>
        <p:nvGrpSpPr>
          <p:cNvPr name="Group 26" id="26"/>
          <p:cNvGrpSpPr/>
          <p:nvPr/>
        </p:nvGrpSpPr>
        <p:grpSpPr>
          <a:xfrm rot="0">
            <a:off x="15665503" y="317552"/>
            <a:ext cx="2042119" cy="650325"/>
            <a:chOff x="0" y="0"/>
            <a:chExt cx="537842" cy="171279"/>
          </a:xfrm>
        </p:grpSpPr>
        <p:sp>
          <p:nvSpPr>
            <p:cNvPr name="Freeform 27" id="27"/>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8" id="28"/>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29" id="29"/>
          <p:cNvGrpSpPr/>
          <p:nvPr/>
        </p:nvGrpSpPr>
        <p:grpSpPr>
          <a:xfrm rot="0">
            <a:off x="629723" y="9258300"/>
            <a:ext cx="6961669" cy="627749"/>
            <a:chOff x="0" y="0"/>
            <a:chExt cx="1833526" cy="165333"/>
          </a:xfrm>
        </p:grpSpPr>
        <p:sp>
          <p:nvSpPr>
            <p:cNvPr name="Freeform 30" id="30"/>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1" id="31"/>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9559999">
            <a:off x="-6690254" y="3123721"/>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38117">
            <a:off x="14860579" y="-2339974"/>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2032038" y="2811643"/>
            <a:ext cx="14223925" cy="2600279"/>
          </a:xfrm>
          <a:prstGeom prst="rect">
            <a:avLst/>
          </a:prstGeom>
        </p:spPr>
        <p:txBody>
          <a:bodyPr anchor="t" rtlCol="false" tIns="0" lIns="0" bIns="0" rIns="0">
            <a:spAutoFit/>
          </a:bodyPr>
          <a:lstStyle/>
          <a:p>
            <a:pPr algn="ctr">
              <a:lnSpc>
                <a:spcPts val="13800"/>
              </a:lnSpc>
            </a:pPr>
            <a:r>
              <a:rPr lang="en-US" sz="15000" b="true">
                <a:solidFill>
                  <a:srgbClr val="243342"/>
                </a:solidFill>
                <a:latin typeface="Karnchang Bold"/>
                <a:ea typeface="Karnchang Bold"/>
                <a:cs typeface="Karnchang Bold"/>
                <a:sym typeface="Karnchang Bold"/>
              </a:rPr>
              <a:t>Terima Kasih</a:t>
            </a:r>
          </a:p>
        </p:txBody>
      </p:sp>
      <p:grpSp>
        <p:nvGrpSpPr>
          <p:cNvPr name="Group 26" id="26"/>
          <p:cNvGrpSpPr/>
          <p:nvPr/>
        </p:nvGrpSpPr>
        <p:grpSpPr>
          <a:xfrm rot="0">
            <a:off x="4032797" y="5548722"/>
            <a:ext cx="10222406" cy="921776"/>
            <a:chOff x="0" y="0"/>
            <a:chExt cx="1833526" cy="165333"/>
          </a:xfrm>
        </p:grpSpPr>
        <p:sp>
          <p:nvSpPr>
            <p:cNvPr name="Freeform 27" id="27"/>
            <p:cNvSpPr/>
            <p:nvPr/>
          </p:nvSpPr>
          <p:spPr>
            <a:xfrm flipH="false" flipV="false" rot="0">
              <a:off x="0" y="0"/>
              <a:ext cx="1833526" cy="165333"/>
            </a:xfrm>
            <a:custGeom>
              <a:avLst/>
              <a:gdLst/>
              <a:ahLst/>
              <a:cxnLst/>
              <a:rect r="r" b="b" t="t" l="l"/>
              <a:pathLst>
                <a:path h="165333" w="1833526">
                  <a:moveTo>
                    <a:pt x="11360" y="0"/>
                  </a:moveTo>
                  <a:lnTo>
                    <a:pt x="1822166" y="0"/>
                  </a:lnTo>
                  <a:cubicBezTo>
                    <a:pt x="1825179" y="0"/>
                    <a:pt x="1828068" y="1197"/>
                    <a:pt x="1830199" y="3327"/>
                  </a:cubicBezTo>
                  <a:cubicBezTo>
                    <a:pt x="1832329" y="5458"/>
                    <a:pt x="1833526" y="8347"/>
                    <a:pt x="1833526" y="11360"/>
                  </a:cubicBezTo>
                  <a:lnTo>
                    <a:pt x="1833526" y="153973"/>
                  </a:lnTo>
                  <a:cubicBezTo>
                    <a:pt x="1833526" y="156986"/>
                    <a:pt x="1832329" y="159875"/>
                    <a:pt x="1830199" y="162006"/>
                  </a:cubicBezTo>
                  <a:cubicBezTo>
                    <a:pt x="1828068" y="164136"/>
                    <a:pt x="1825179" y="165333"/>
                    <a:pt x="1822166" y="165333"/>
                  </a:cubicBezTo>
                  <a:lnTo>
                    <a:pt x="11360" y="165333"/>
                  </a:lnTo>
                  <a:cubicBezTo>
                    <a:pt x="5086" y="165333"/>
                    <a:pt x="0" y="160247"/>
                    <a:pt x="0" y="153973"/>
                  </a:cubicBezTo>
                  <a:lnTo>
                    <a:pt x="0" y="11360"/>
                  </a:lnTo>
                  <a:cubicBezTo>
                    <a:pt x="0" y="8347"/>
                    <a:pt x="1197" y="5458"/>
                    <a:pt x="3327" y="3327"/>
                  </a:cubicBezTo>
                  <a:cubicBezTo>
                    <a:pt x="5458" y="1197"/>
                    <a:pt x="8347" y="0"/>
                    <a:pt x="11360" y="0"/>
                  </a:cubicBezTo>
                  <a:close/>
                </a:path>
              </a:pathLst>
            </a:custGeom>
            <a:solidFill>
              <a:srgbClr val="535659"/>
            </a:solidFill>
            <a:ln w="19050" cap="sq">
              <a:solidFill>
                <a:srgbClr val="243342"/>
              </a:solidFill>
              <a:prstDash val="solid"/>
              <a:miter/>
            </a:ln>
          </p:spPr>
        </p:sp>
        <p:sp>
          <p:nvSpPr>
            <p:cNvPr name="TextBox 28" id="28"/>
            <p:cNvSpPr txBox="true"/>
            <p:nvPr/>
          </p:nvSpPr>
          <p:spPr>
            <a:xfrm>
              <a:off x="0" y="-38100"/>
              <a:ext cx="1833526" cy="203433"/>
            </a:xfrm>
            <a:prstGeom prst="rect">
              <a:avLst/>
            </a:prstGeom>
          </p:spPr>
          <p:txBody>
            <a:bodyPr anchor="ctr" rtlCol="false" tIns="74594" lIns="74594" bIns="74594" rIns="74594"/>
            <a:lstStyle/>
            <a:p>
              <a:pPr algn="ctr">
                <a:lnSpc>
                  <a:spcPts val="3362"/>
                </a:lnSpc>
              </a:pPr>
              <a:r>
                <a:rPr lang="en-US" b="true" sz="2401">
                  <a:solidFill>
                    <a:srgbClr val="FFFFFF"/>
                  </a:solidFill>
                  <a:latin typeface="Montserrat Ultra-Bold"/>
                  <a:ea typeface="Montserrat Ultra-Bold"/>
                  <a:cs typeface="Montserrat Ultra-Bold"/>
                  <a:sym typeface="Montserrat Ultra-Bold"/>
                </a:rPr>
                <a:t>luvv alll</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DAGZnKYhIIE</dc:identifier>
  <dcterms:modified xsi:type="dcterms:W3CDTF">2011-08-01T06:04:30Z</dcterms:modified>
  <cp:revision>1</cp:revision>
  <dc:title>PPT TUGAS KKRPL KELOMPOK ANDROID</dc:title>
</cp:coreProperties>
</file>